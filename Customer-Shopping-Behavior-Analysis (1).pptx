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raunces Light"/>
      <p:regular r:id="rId201314"/>
    </p:embeddedFont>
    <p:embeddedFont>
      <p:font typeface="Fraunces Thin"/>
      <p:regular r:id="rId201315"/>
    </p:embeddedFont>
    <p:embeddedFont>
      <p:font typeface="Fraunces ExtraLight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SemiBold"/>
      <p:regular r:id="rId201319"/>
    </p:embeddedFont>
    <p:embeddedFont>
      <p:font typeface="Fraunces Bold"/>
      <p:regular r:id="rId201320"/>
    </p:embeddedFont>
    <p:embeddedFont>
      <p:font typeface="Fraunces ExtraBold"/>
      <p:regular r:id="rId201321"/>
    </p:embeddedFont>
    <p:embeddedFont>
      <p:font typeface="Fraunces Black"/>
      <p:regular r:id="rId201322"/>
    </p:embeddedFont>
    <p:embeddedFont>
      <p:font typeface="Nobile"/>
      <p:regular r:id="rId201323"/>
    </p:embeddedFont>
    <p:embeddedFont>
      <p:font typeface="Nobile Medium"/>
      <p:regular r:id="rId201324"/>
    </p:embeddedFont>
    <p:embeddedFont>
      <p:font typeface="Nobile Bold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image" Target="../media/image-7-1.png"/><Relationship Id="rId12" Type="http://schemas.openxmlformats.org/officeDocument/2006/relationships/image" Target="../media/image-7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Uncovering spending patterns, customer segments, and product preferences across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3,900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0246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428899"/>
            <a:ext cx="22727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3925119" y="2073846"/>
            <a:ext cx="22727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5053" y="1428899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6375053" y="2073846"/>
            <a:ext cx="2272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150048" y="2649662"/>
            <a:ext cx="22728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37</a:t>
            </a:r>
            <a:endParaRPr lang="en-US" sz="3650" dirty="0"/>
          </a:p>
        </p:txBody>
      </p:sp>
      <p:sp>
        <p:nvSpPr>
          <p:cNvPr id="9" name="Text 6"/>
          <p:cNvSpPr/>
          <p:nvPr/>
        </p:nvSpPr>
        <p:spPr>
          <a:xfrm>
            <a:off x="5150048" y="3294608"/>
            <a:ext cx="2272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150048" y="3601120"/>
            <a:ext cx="22728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Review Rating only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925119" y="398740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Demographics, purchase details, and shopping behavior — loaded into PostgreSQL for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47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291233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Load to PostgreSQL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388898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Engineer Features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Clean &amp; Impute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388898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Load &amp; Explore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3519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Columns standardized to snake_case; redundant promo_code_used dropped. Clean data loaded to PostgreSQL.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Male customers drive 2×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$157,890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Female: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$75,191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552748"/>
          </a:xfrm>
          <a:prstGeom prst="roundRect">
            <a:avLst>
              <a:gd name="adj" fmla="val 23083"/>
            </a:avLst>
          </a:prstGeom>
          <a:solidFill>
            <a:srgbClr val="DDEEE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5896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segment for targeted campaigns.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73% non-subscribers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Non-subscribers generate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$170K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$63K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from subscribers.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Avg spend nearly identical (~$59).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759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Top Products by Category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053182"/>
            <a:ext cx="4722763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194941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1501453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Jewelry · Sunglasses · Belt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011784"/>
            <a:ext cx="4722763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637877" y="2153543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Clothing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877" y="2460054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Blouse · Pants · Shirt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2970386"/>
            <a:ext cx="4722763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112145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41865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Sandals · Shoes · Sneakers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928988"/>
            <a:ext cx="4722763" cy="816843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4" name="Text 11"/>
          <p:cNvSpPr/>
          <p:nvPr/>
        </p:nvSpPr>
        <p:spPr>
          <a:xfrm>
            <a:off x="637877" y="4070747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37877" y="4377258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Jacket · Coat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92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Ratings, Discounts &amp; Shipping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6663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Top Rated Products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47565"/>
            <a:ext cx="3902943" cy="5430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108374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Gloves — 3.86★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632397"/>
            <a:ext cx="3902943" cy="5430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3127" y="2793206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Sandals — 3.84★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17230"/>
            <a:ext cx="3902943" cy="54307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3127" y="3478039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Boots — 3.82★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749701" y="156663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Most Discounted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9701" y="1947565"/>
            <a:ext cx="3902943" cy="54307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86710" y="2108374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Hat — 50%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9701" y="2632397"/>
            <a:ext cx="3902943" cy="54307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86710" y="2793206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Sneakers — 49.7%</a:t>
            </a:r>
            <a:endParaRPr lang="en-US" sz="13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9701" y="3317230"/>
            <a:ext cx="3902943" cy="54307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986710" y="3478039"/>
            <a:ext cx="35051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Coat — 49.1%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4749701" y="4019773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Express avg: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vs Standard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$58.46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Loyal customers dominate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loyal buyers (80% of base). Only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83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new customers.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 958 repeat buyers (&gt;5 purchases), most remain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non-subscribers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(2,518).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Young Adults lead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Young Adults: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$62K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— highest across all age groups.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Revenue narrows with age, but all groups contribute meaningfully.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5053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Business Recommendations</a:t>
            </a:r>
            <a:endParaRPr lang="en-US" sz="2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925339"/>
            <a:ext cx="287908" cy="2879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330226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Boost Subscriptions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3925119" y="1566267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Promote exclusive subscriber benefits.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920404"/>
            <a:ext cx="287908" cy="2879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325291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Loyalty Programs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3925119" y="2561332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Reward repeat buyers toward "Loyal" segment.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915469"/>
            <a:ext cx="287908" cy="2879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3320355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Review Discounts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3925119" y="3556397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 sales lift with margin control.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910533"/>
            <a:ext cx="287908" cy="2879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25119" y="4315420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Targeted Marketing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3925119" y="4551462"/>
            <a:ext cx="472276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Focus on high-revenue age groups and express-shipping users.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2026-07-08T06:57:27Z</dcterms:created>
  <dcterms:modified xsi:type="dcterms:W3CDTF">2026-07-08T06:57:27Z</dcterms:modified>
</cp:coreProperties>
</file>